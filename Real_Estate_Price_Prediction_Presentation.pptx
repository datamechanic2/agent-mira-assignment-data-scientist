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Real Estate Price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ML Case Study - Agent Mira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Goal: Predict house prices using ML</a:t>
            </a:r>
          </a:p>
          <a:p>
            <a:pPr>
              <a:spcAft>
                <a:spcPts val="1000"/>
              </a:spcAft>
              <a:defRPr sz="2000"/>
            </a:pPr>
            <a:r>
              <a:t>• Data: 247K transactions (2020-2024)</a:t>
            </a:r>
          </a:p>
          <a:p>
            <a:pPr>
              <a:spcAft>
                <a:spcPts val="1000"/>
              </a:spcAft>
              <a:defRPr sz="2000"/>
            </a:pPr>
            <a:r>
              <a:t>• Best model: LightGBM (R²=0.53, RMSE=$157K)</a:t>
            </a:r>
          </a:p>
          <a:p>
            <a:pPr>
              <a:spcAft>
                <a:spcPts val="1000"/>
              </a:spcAft>
              <a:defRPr sz="2000"/>
            </a:pPr>
            <a:r>
              <a:t>• Deployed as REST API with multi-core support</a:t>
            </a:r>
          </a:p>
          <a:p>
            <a:pPr>
              <a:spcAft>
                <a:spcPts val="1000"/>
              </a:spcAft>
              <a:defRPr sz="2000"/>
            </a:pPr>
            <a:r>
              <a:t>• Size and sale timing are top predictors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247,172 property sales</a:t>
            </a:r>
          </a:p>
          <a:p>
            <a:pPr>
              <a:spcAft>
                <a:spcPts val="1000"/>
              </a:spcAft>
              <a:defRPr sz="2000"/>
            </a:pPr>
            <a:r>
              <a:t>• Features:</a:t>
            </a:r>
          </a:p>
          <a:p>
            <a:pPr>
              <a:spcAft>
                <a:spcPts val="1000"/>
              </a:spcAft>
              <a:defRPr sz="1800"/>
            </a:pPr>
            <a:r>
              <a:t>    - Location (4 cities)</a:t>
            </a:r>
          </a:p>
          <a:p>
            <a:pPr>
              <a:spcAft>
                <a:spcPts val="1000"/>
              </a:spcAft>
              <a:defRPr sz="1800"/>
            </a:pPr>
            <a:r>
              <a:t>    - Size (800-4000 sqft)</a:t>
            </a:r>
          </a:p>
          <a:p>
            <a:pPr>
              <a:spcAft>
                <a:spcPts val="1000"/>
              </a:spcAft>
              <a:defRPr sz="1800"/>
            </a:pPr>
            <a:r>
              <a:t>    - Bedrooms (1-5), Bathrooms (1-3)</a:t>
            </a:r>
          </a:p>
          <a:p>
            <a:pPr>
              <a:spcAft>
                <a:spcPts val="1000"/>
              </a:spcAft>
              <a:defRPr sz="1800"/>
            </a:pPr>
            <a:r>
              <a:t>    - Year Built, Condition, Type</a:t>
            </a:r>
          </a:p>
          <a:p>
            <a:pPr>
              <a:spcAft>
                <a:spcPts val="1000"/>
              </a:spcAft>
              <a:defRPr sz="2000"/>
            </a:pPr>
            <a:r>
              <a:t>• Target: Price ($26K - $2.2M)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Missing values handled:</a:t>
            </a:r>
          </a:p>
          <a:p>
            <a:pPr>
              <a:spcAft>
                <a:spcPts val="1000"/>
              </a:spcAft>
              <a:defRPr sz="1800"/>
            </a:pPr>
            <a:r>
              <a:t>    - Year Built: 5.1%</a:t>
            </a:r>
          </a:p>
          <a:p>
            <a:pPr>
              <a:spcAft>
                <a:spcPts val="1000"/>
              </a:spcAft>
              <a:defRPr sz="1800"/>
            </a:pPr>
            <a:r>
              <a:t>    - Condition: 4.3%</a:t>
            </a:r>
          </a:p>
          <a:p>
            <a:pPr>
              <a:spcAft>
                <a:spcPts val="1000"/>
              </a:spcAft>
              <a:defRPr sz="1800"/>
            </a:pPr>
            <a:r>
              <a:t>    - Bedrooms: 3.4%</a:t>
            </a:r>
          </a:p>
          <a:p>
            <a:pPr>
              <a:spcAft>
                <a:spcPts val="1000"/>
              </a:spcAft>
              <a:defRPr sz="1800"/>
            </a:pPr>
            <a:r>
              <a:t>    - Price: 2.2%</a:t>
            </a:r>
          </a:p>
          <a:p>
            <a:pPr>
              <a:spcAft>
                <a:spcPts val="1000"/>
              </a:spcAft>
              <a:defRPr sz="2000"/>
            </a:pPr>
            <a:r>
              <a:t>• Strategy: median for numeric, mode for categorical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Price Distribution</a:t>
            </a:r>
          </a:p>
        </p:txBody>
      </p:sp>
      <p:pic>
        <p:nvPicPr>
          <p:cNvPr id="3" name="Picture 2" descr="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22960"/>
            <a:ext cx="7772400" cy="25502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6217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Right-skewed | Mean: $466K | Median: $417K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Categorical Analysis</a:t>
            </a:r>
          </a:p>
        </p:txBody>
      </p:sp>
      <p:pic>
        <p:nvPicPr>
          <p:cNvPr id="3" name="Picture 2" descr="categorica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22960"/>
            <a:ext cx="7772400" cy="50830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Correlations</a:t>
            </a:r>
          </a:p>
        </p:txBody>
      </p:sp>
      <p:pic>
        <p:nvPicPr>
          <p:cNvPr id="3" name="Picture 2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22960"/>
            <a:ext cx="7772400" cy="69243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Created 12 features:</a:t>
            </a:r>
          </a:p>
          <a:p>
            <a:pPr>
              <a:spcAft>
                <a:spcPts val="1000"/>
              </a:spcAft>
              <a:defRPr sz="1800"/>
            </a:pPr>
            <a:r>
              <a:t>    - property_age, total_rooms, bath_ratio</a:t>
            </a:r>
          </a:p>
          <a:p>
            <a:pPr>
              <a:spcAft>
                <a:spcPts val="1000"/>
              </a:spcAft>
              <a:defRPr sz="1800"/>
            </a:pPr>
            <a:r>
              <a:t>    - size_cat (small/medium/large/xlarge)</a:t>
            </a:r>
          </a:p>
          <a:p>
            <a:pPr>
              <a:spcAft>
                <a:spcPts val="1000"/>
              </a:spcAft>
              <a:defRPr sz="1800"/>
            </a:pPr>
            <a:r>
              <a:t>    - year_sold, month_sold, quarter</a:t>
            </a:r>
          </a:p>
          <a:p>
            <a:pPr>
              <a:spcAft>
                <a:spcPts val="1000"/>
              </a:spcAft>
              <a:defRPr sz="1800"/>
            </a:pPr>
            <a:r>
              <a:t>    - is_new, decade</a:t>
            </a:r>
          </a:p>
          <a:p>
            <a:pPr>
              <a:spcAft>
                <a:spcPts val="1000"/>
              </a:spcAft>
              <a:defRPr sz="2000"/>
            </a:pPr>
            <a:r>
              <a:t>• One-hot encoding for categoricals</a:t>
            </a:r>
          </a:p>
          <a:p>
            <a:pPr>
              <a:spcAft>
                <a:spcPts val="1000"/>
              </a:spcAft>
              <a:defRPr sz="2000"/>
            </a:pPr>
            <a:r>
              <a:t>• StandardScaler for numerics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Val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Time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18.7s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$161K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$163K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Best Model: LightGBM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Test performance:</a:t>
            </a:r>
          </a:p>
          <a:p>
            <a:pPr>
              <a:spcAft>
                <a:spcPts val="1000"/>
              </a:spcAft>
              <a:defRPr sz="1800"/>
            </a:pPr>
            <a:r>
              <a:t>    - RMSE: $157,307</a:t>
            </a:r>
          </a:p>
          <a:p>
            <a:pPr>
              <a:spcAft>
                <a:spcPts val="1000"/>
              </a:spcAft>
              <a:defRPr sz="1800"/>
            </a:pPr>
            <a:r>
              <a:t>    - MAE: $117,716</a:t>
            </a:r>
          </a:p>
          <a:p>
            <a:pPr>
              <a:spcAft>
                <a:spcPts val="1000"/>
              </a:spcAft>
              <a:defRPr sz="1800"/>
            </a:pPr>
            <a:r>
              <a:t>    - R²: 0.5317</a:t>
            </a:r>
          </a:p>
          <a:p>
            <a:pPr>
              <a:spcAft>
                <a:spcPts val="1000"/>
              </a:spcAft>
              <a:defRPr sz="2000"/>
            </a:pPr>
            <a:r>
              <a:t>• Tuned with GridSearchCV (5-fold CV)</a:t>
            </a:r>
          </a:p>
          <a:p>
            <a:pPr>
              <a:spcAft>
                <a:spcPts val="1000"/>
              </a:spcAft>
              <a:defRPr sz="2000"/>
            </a:pPr>
            <a:r>
              <a:t>• Params: lr=0.05, depth=4, n_est=200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Feature Importance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Score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year_sold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month_sold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total_rooms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property_age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Multi-Core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Training: n_jobs for RF, XGB, LGBM</a:t>
            </a:r>
          </a:p>
          <a:p>
            <a:pPr>
              <a:spcAft>
                <a:spcPts val="1000"/>
              </a:spcAft>
              <a:defRPr sz="2000"/>
            </a:pPr>
            <a:r>
              <a:t>• GridSearchCV with parallel CV folds</a:t>
            </a:r>
          </a:p>
          <a:p>
            <a:pPr>
              <a:spcAft>
                <a:spcPts val="1000"/>
              </a:spcAft>
              <a:defRPr sz="2000"/>
            </a:pPr>
            <a:r>
              <a:t>• API: ThreadPoolExecutor for batch predictions</a:t>
            </a:r>
          </a:p>
          <a:p>
            <a:pPr>
              <a:spcAft>
                <a:spcPts val="1000"/>
              </a:spcAft>
              <a:defRPr sz="2000"/>
            </a:pPr>
            <a:r>
              <a:t>• Uvicorn with multiple workers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API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POST /predict - single property</a:t>
            </a:r>
          </a:p>
          <a:p>
            <a:pPr>
              <a:spcAft>
                <a:spcPts val="1000"/>
              </a:spcAft>
              <a:defRPr sz="2000"/>
            </a:pPr>
            <a:r>
              <a:t>• POST /predict/batch - multiple properties</a:t>
            </a:r>
          </a:p>
          <a:p>
            <a:pPr>
              <a:spcAft>
                <a:spcPts val="1000"/>
              </a:spcAft>
              <a:defRPr sz="2000"/>
            </a:pPr>
            <a:r>
              <a:t>• GET /health - status check</a:t>
            </a:r>
          </a:p>
          <a:p>
            <a:pPr>
              <a:spcAft>
                <a:spcPts val="1000"/>
              </a:spcAft>
              <a:defRPr sz="2000"/>
            </a:pPr>
            <a:r>
              <a:t>• GET /model/info - model details</a:t>
            </a:r>
          </a:p>
          <a:p>
            <a:pPr>
              <a:spcAft>
                <a:spcPts val="1000"/>
              </a:spcAft>
              <a:defRPr sz="2000"/>
            </a:pPr>
            <a:r>
              <a:t>• Swagger docs at /docs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Project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src/eda.py - EDA and plots</a:t>
            </a:r>
          </a:p>
          <a:p>
            <a:pPr>
              <a:spcAft>
                <a:spcPts val="1000"/>
              </a:spcAft>
              <a:defRPr sz="2000"/>
            </a:pPr>
            <a:r>
              <a:t>• src/preprocessing.py - data pipeline</a:t>
            </a:r>
          </a:p>
          <a:p>
            <a:pPr>
              <a:spcAft>
                <a:spcPts val="1000"/>
              </a:spcAft>
              <a:defRPr sz="2000"/>
            </a:pPr>
            <a:r>
              <a:t>• src/model_training.py - model training</a:t>
            </a:r>
          </a:p>
          <a:p>
            <a:pPr>
              <a:spcAft>
                <a:spcPts val="1000"/>
              </a:spcAft>
              <a:defRPr sz="2000"/>
            </a:pPr>
            <a:r>
              <a:t>• api/app.py - FastAPI server</a:t>
            </a:r>
          </a:p>
          <a:p>
            <a:pPr>
              <a:spcAft>
                <a:spcPts val="1000"/>
              </a:spcAft>
              <a:defRPr sz="2000"/>
            </a:pPr>
            <a:r>
              <a:t>• main.py - orchestration</a:t>
            </a:r>
          </a:p>
          <a:p>
            <a:pPr>
              <a:spcAft>
                <a:spcPts val="1000"/>
              </a:spcAft>
              <a:defRPr sz="2000"/>
            </a:pPr>
            <a:r>
              <a:t>• models/ - saved model artifacts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